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19050" cap="flat">
                <a:solidFill>
                  <a:srgbClr val="0F17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B3-417A-A07D-231A2EF1571C}"/>
              </c:ext>
            </c:extLst>
          </c:dPt>
          <c:dPt>
            <c:idx val="1"/>
            <c:bubble3D val="0"/>
            <c:spPr>
              <a:solidFill>
                <a:srgbClr val="8B5CF6"/>
              </a:solidFill>
              <a:ln w="19050" cap="flat">
                <a:solidFill>
                  <a:srgbClr val="0F17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B3-417A-A07D-231A2EF1571C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ln w="19050" cap="flat">
                <a:solidFill>
                  <a:srgbClr val="0F17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9B3-417A-A07D-231A2EF1571C}"/>
              </c:ext>
            </c:extLst>
          </c:dPt>
          <c:dPt>
            <c:idx val="3"/>
            <c:bubble3D val="0"/>
            <c:spPr>
              <a:solidFill>
                <a:srgbClr val="A78BFA"/>
              </a:solidFill>
              <a:ln w="19050" cap="flat">
                <a:solidFill>
                  <a:srgbClr val="0F17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9B3-417A-A07D-231A2EF1571C}"/>
              </c:ext>
            </c:extLst>
          </c:dPt>
          <c:cat>
            <c:strRef>
              <c:f>Sheet1!$A$2:$A$5</c:f>
              <c:strCache>
                <c:ptCount val="4"/>
                <c:pt idx="0">
                  <c:v>Savings rate</c:v>
                </c:pt>
                <c:pt idx="1">
                  <c:v>Low DTI</c:v>
                </c:pt>
                <c:pt idx="2">
                  <c:v>Emergency fund</c:v>
                </c:pt>
                <c:pt idx="3">
                  <c:v>Investments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B3-417A-A07D-231A2EF15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</c:v>
                </c:pt>
              </c:strCache>
            </c:strRef>
          </c:tx>
          <c:spPr>
            <a:solidFill>
              <a:srgbClr val="22D3EE">
                <a:alpha val="35000"/>
              </a:srgbClr>
            </a:solidFill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Saver</c:v>
                </c:pt>
                <c:pt idx="1">
                  <c:v>Investor</c:v>
                </c:pt>
                <c:pt idx="2">
                  <c:v>Borrower</c:v>
                </c:pt>
                <c:pt idx="3">
                  <c:v>Digital User</c:v>
                </c:pt>
                <c:pt idx="4">
                  <c:v>Protector</c:v>
                </c:pt>
                <c:pt idx="5">
                  <c:v>Planner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55</c:v>
                </c:pt>
                <c:pt idx="2">
                  <c:v>40</c:v>
                </c:pt>
                <c:pt idx="3">
                  <c:v>85</c:v>
                </c:pt>
                <c:pt idx="4">
                  <c:v>50</c:v>
                </c:pt>
                <c:pt idx="5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7-4B08-A36F-142C5DFE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B3866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9525" cap="flat">
              <a:solidFill>
                <a:srgbClr val="2B38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₹0</c:v>
                </c:pt>
              </c:strCache>
            </c:strRef>
          </c:tx>
          <c:spPr>
            <a:ln w="38100" cap="flat">
              <a:solidFill>
                <a:srgbClr val="A3B1C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3B1CC"/>
              </a:solidFill>
              <a:ln w="9525" cap="flat">
                <a:solidFill>
                  <a:srgbClr val="A3B1C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Yr 0</c:v>
                </c:pt>
                <c:pt idx="1">
                  <c:v>Yr 2</c:v>
                </c:pt>
                <c:pt idx="2">
                  <c:v>Yr 4</c:v>
                </c:pt>
                <c:pt idx="3">
                  <c:v>Yr 6</c:v>
                </c:pt>
                <c:pt idx="4">
                  <c:v>Yr 8</c:v>
                </c:pt>
                <c:pt idx="5">
                  <c:v>Yr 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1F-44F1-8CDD-1C983D2C0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₹5,000</c:v>
                </c:pt>
              </c:strCache>
            </c:strRef>
          </c:tx>
          <c:spPr>
            <a:ln w="38100" cap="flat">
              <a:solidFill>
                <a:srgbClr val="A78BF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Yr 0</c:v>
                </c:pt>
                <c:pt idx="1">
                  <c:v>Yr 2</c:v>
                </c:pt>
                <c:pt idx="2">
                  <c:v>Yr 4</c:v>
                </c:pt>
                <c:pt idx="3">
                  <c:v>Yr 6</c:v>
                </c:pt>
                <c:pt idx="4">
                  <c:v>Yr 8</c:v>
                </c:pt>
                <c:pt idx="5">
                  <c:v>Yr 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1.4</c:v>
                </c:pt>
                <c:pt idx="2">
                  <c:v>3.1</c:v>
                </c:pt>
                <c:pt idx="3">
                  <c:v>5.3</c:v>
                </c:pt>
                <c:pt idx="4">
                  <c:v>8.1</c:v>
                </c:pt>
                <c:pt idx="5">
                  <c:v>11.6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1F-44F1-8CDD-1C983D2C00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C: ₹10,000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Yr 0</c:v>
                </c:pt>
                <c:pt idx="1">
                  <c:v>Yr 2</c:v>
                </c:pt>
                <c:pt idx="2">
                  <c:v>Yr 4</c:v>
                </c:pt>
                <c:pt idx="3">
                  <c:v>Yr 6</c:v>
                </c:pt>
                <c:pt idx="4">
                  <c:v>Yr 8</c:v>
                </c:pt>
                <c:pt idx="5">
                  <c:v>Yr 10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2.7</c:v>
                </c:pt>
                <c:pt idx="2">
                  <c:v>6.2</c:v>
                </c:pt>
                <c:pt idx="3">
                  <c:v>10.6</c:v>
                </c:pt>
                <c:pt idx="4">
                  <c:v>16.2</c:v>
                </c:pt>
                <c:pt idx="5">
                  <c:v>23.2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1F-44F1-8CDD-1C983D2C0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B1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386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3B1CC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A3B1CC"/>
                    </a:solidFill>
                    <a:latin typeface="Arial"/>
                  </a:rPr>
                  <a:t>₹ lakh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B1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28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MANSHORA — Insight Engineered for Impact. Evolved from DigiMentor AI 3.0 (SBI × Global Fintech Fest 2026, Theme 2: Digital Adoption). Creators: Mansi Kushwaha × Sheetal. Visuals are illustrative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slide: hackathon → theme → 5,000-customer prototype → DigiMentor AI 3.0 → idea-phase submission → beyond the hackathon → MANSHORA.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sides of the same problem: customers cannot interpret their own numbers; banks cannot easily turn customer data into next steps. The missing layer is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Serves two audiences in one platform. Core flow: DATA → ANALYZE → UNDERSTAND → PREDICT →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modules around one intelligence layer. Purple = customer-facing, cyan = bank-facing.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MANSHORA ships with no demo or invented customer data. Every number comes from what a user entered; anything missing shows "Not Provided".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add only the new month each time; earlier months stay saved. Forecasts use linear regression on saved history (implemented).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KPIs computed from user-entered data. Formulas shown are the real ones in the product. No customer score is invented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DNA: Saver, Investor, Borrower, Digital user, Protector, Planner. The radar shape here is purely illustrative — real values come from a user's own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rule-based agents. Each shows status, recommendation, confidence and one line of reasoning. The screen labels them rule-based; no hidden reasoning is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tied to the original SBI GFF Theme 2. Score, gaps, 30-day plan, nudges and predicted next products are rule-based outputs from user-entered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Life-event outputs are estimates derived from income changes and stated goals — always labelled as estimates. Next-best-action examples are suggestions, not guaranteed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Four-part answers: Explanation, Calculation, Recommendation, Action plan. English/Hindi/Tamil, voice via the browser Web Speech API. Fully local and rule-based — not an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Lab recalculates EMI, total interest and emergency-fund coverage as inputs change, and compares three scenarios. The chart uses a standard SIP future-value formula with an assumed 12% p.a. purely for illustration — it is not a forecast or a promise of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 Protection: pattern matching, not a guarantee. Camera Banking: brightness/sharpness/coverage checks in-browser; OCR is best-effort and depends on an online library (Tesseract.js). PAN/Aadhaar always masked; full number/image not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and Executive views summarise accounts registered in the same browser only (no backend yet). Heatmap and cluster visuals here are layout previews. SIP/insurance predictions are fixed-weight heuristics, not trained models. K-means needs 3+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stack is plain HTML/CSS/JS in the browser. ML = linear regression for savings forecasts and k-means for segmentation; product-adoption predictions are a fixed-weight logistic score (heuristic, not trained). Chatbot is local and rule-based. Limitations are stated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is future scope only. Nothing on this slide is implemented today. Close with the tagline and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3CF4-44F2-2E7B-8152-D155EE33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0D51-C37E-6394-EF93-549E71D63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2ACF4-8409-826E-8FCB-C966469AB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is future scope only. Nothing on this slide is implemented today. Close with the tagline and disclaimer.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7AEA3-90BD-0FB9-FA6D-9C97138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89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23D7-BA7F-A634-0E40-6C146E78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FF526-D225-E43B-38CC-08720777D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6E027-8435-93B6-9230-6B372E1D2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is future scope only. Nothing on this slide is implemented today. Close with the tagline and disclaimer.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A80E9-A05C-0F69-293A-204EDE5E3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0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1.png"/><Relationship Id="rId21" Type="http://schemas.openxmlformats.org/officeDocument/2006/relationships/image" Target="../media/image55.png"/><Relationship Id="rId7" Type="http://schemas.openxmlformats.org/officeDocument/2006/relationships/image" Target="../media/image42.png"/><Relationship Id="rId12" Type="http://schemas.openxmlformats.org/officeDocument/2006/relationships/image" Target="../media/image7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19" Type="http://schemas.openxmlformats.org/officeDocument/2006/relationships/image" Target="../media/image53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6.png"/><Relationship Id="rId3" Type="http://schemas.openxmlformats.org/officeDocument/2006/relationships/image" Target="../media/image1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41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35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3.png"/><Relationship Id="rId10" Type="http://schemas.openxmlformats.org/officeDocument/2006/relationships/image" Target="../media/image35.png"/><Relationship Id="rId4" Type="http://schemas.openxmlformats.org/officeDocument/2006/relationships/chart" Target="../charts/chart3.xml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9.png"/><Relationship Id="rId3" Type="http://schemas.openxmlformats.org/officeDocument/2006/relationships/image" Target="../media/image11.png"/><Relationship Id="rId7" Type="http://schemas.openxmlformats.org/officeDocument/2006/relationships/image" Target="../media/image77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49.png"/><Relationship Id="rId5" Type="http://schemas.openxmlformats.org/officeDocument/2006/relationships/image" Target="../media/image75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58.png"/><Relationship Id="rId1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81.png"/><Relationship Id="rId10" Type="http://schemas.openxmlformats.org/officeDocument/2006/relationships/image" Target="../media/image56.png"/><Relationship Id="rId4" Type="http://schemas.openxmlformats.org/officeDocument/2006/relationships/image" Target="../media/image30.png"/><Relationship Id="rId9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C:\Users\DELL\Downloads\manshora%20(2).html" TargetMode="External"/><Relationship Id="rId4" Type="http://schemas.openxmlformats.org/officeDocument/2006/relationships/hyperlink" Target="https://colab.research.google.com/drive/1qdm39UOnB7qQUSCbRjnKjOZniCnCs9MQ#scrollTo=BgxUpgUyj1BP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5760720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× GLOBAL FINTECH FEST 2026  ·  THEME 2: DIGITAL ADOPTION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Engineered for Impact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Financial Data to Intelligent Decisions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77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9968" y="3977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9968" y="3977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1296" y="3977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3977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92624" y="3977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92624" y="3977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8348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4440" y="4846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Kushwaha × Sheetal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DigiMentor AI 3.0 | SBI × Global Fintech Fest 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66560" y="1005840"/>
            <a:ext cx="4572000" cy="4754880"/>
          </a:xfrm>
          <a:prstGeom prst="roundRect">
            <a:avLst>
              <a:gd name="adj" fmla="val 3600"/>
            </a:avLst>
          </a:prstGeom>
          <a:solidFill>
            <a:srgbClr val="0F173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0588" y="1229868"/>
            <a:ext cx="100584" cy="10058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73468" y="1229868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56348" y="1229868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26680" y="11795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Financial Intelligence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1600200"/>
            <a:ext cx="1280160" cy="868680"/>
          </a:xfrm>
          <a:prstGeom prst="roundRect">
            <a:avLst>
              <a:gd name="adj" fmla="val 1263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04888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104888" y="2057400"/>
            <a:ext cx="1060704" cy="109728"/>
          </a:xfrm>
          <a:prstGeom prst="roundRect">
            <a:avLst>
              <a:gd name="adj" fmla="val 50000"/>
            </a:avLst>
          </a:prstGeom>
          <a:solidFill>
            <a:srgbClr val="2B3866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04888" y="205740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66760" y="1600200"/>
            <a:ext cx="1280160" cy="868680"/>
          </a:xfrm>
          <a:prstGeom prst="roundRect">
            <a:avLst>
              <a:gd name="adj" fmla="val 1263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76488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76488" y="2057400"/>
            <a:ext cx="1060704" cy="109728"/>
          </a:xfrm>
          <a:prstGeom prst="roundRect">
            <a:avLst>
              <a:gd name="adj" fmla="val 50000"/>
            </a:avLst>
          </a:prstGeom>
          <a:solidFill>
            <a:srgbClr val="2B3866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76488" y="20574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38360" y="1600200"/>
            <a:ext cx="1280160" cy="868680"/>
          </a:xfrm>
          <a:prstGeom prst="roundRect">
            <a:avLst>
              <a:gd name="adj" fmla="val 1263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48088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848088" y="2057400"/>
            <a:ext cx="1060704" cy="109728"/>
          </a:xfrm>
          <a:prstGeom prst="roundRect">
            <a:avLst>
              <a:gd name="adj" fmla="val 50000"/>
            </a:avLst>
          </a:prstGeom>
          <a:solidFill>
            <a:srgbClr val="2B3866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48088" y="2057400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95160" y="26517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178040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223760" y="3794760"/>
            <a:ext cx="182880" cy="45720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43800" y="3611880"/>
            <a:ext cx="182880" cy="64008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63840" y="3685032"/>
            <a:ext cx="182880" cy="566928"/>
          </a:xfrm>
          <a:prstGeom prst="roundRect">
            <a:avLst>
              <a:gd name="adj" fmla="val 20000"/>
            </a:avLst>
          </a:prstGeom>
          <a:solidFill>
            <a:srgbClr val="22D3EE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83880" y="3429000"/>
            <a:ext cx="182880" cy="82296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503920" y="3520440"/>
            <a:ext cx="182880" cy="73152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823960" y="3291840"/>
            <a:ext cx="182880" cy="960120"/>
          </a:xfrm>
          <a:prstGeom prst="roundRect">
            <a:avLst>
              <a:gd name="adj" fmla="val 20000"/>
            </a:avLst>
          </a:prstGeom>
          <a:solidFill>
            <a:srgbClr val="22D3EE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144000" y="3383280"/>
            <a:ext cx="182880" cy="86868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464040" y="3154680"/>
            <a:ext cx="182880" cy="109728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784080" y="3246120"/>
            <a:ext cx="182880" cy="1005840"/>
          </a:xfrm>
          <a:prstGeom prst="roundRect">
            <a:avLst>
              <a:gd name="adj" fmla="val 20000"/>
            </a:avLst>
          </a:prstGeom>
          <a:solidFill>
            <a:srgbClr val="22D3EE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104120" y="3063240"/>
            <a:ext cx="182880" cy="1188720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424160" y="3136392"/>
            <a:ext cx="182880" cy="1115568"/>
          </a:xfrm>
          <a:prstGeom prst="roundRect">
            <a:avLst>
              <a:gd name="adj" fmla="val 20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744200" y="2971800"/>
            <a:ext cx="182880" cy="1280160"/>
          </a:xfrm>
          <a:prstGeom prst="roundRect">
            <a:avLst>
              <a:gd name="adj" fmla="val 20000"/>
            </a:avLst>
          </a:prstGeom>
          <a:solidFill>
            <a:srgbClr val="22D3EE">
              <a:alpha val="85000"/>
            </a:srgbClr>
          </a:solidFill>
          <a:ln w="12700">
            <a:solidFill>
              <a:srgbClr val="2B386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995160" y="45720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709160"/>
            <a:ext cx="365760" cy="365760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7589520" y="4690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Council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7589520" y="4937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specialist agents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7132320" y="5212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9144000" y="457200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709160"/>
            <a:ext cx="365760" cy="36576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9738360" y="4690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</a:t>
            </a:r>
            <a:endParaRPr lang="en-US" sz="1200" dirty="0"/>
          </a:p>
        </p:txBody>
      </p:sp>
      <p:sp>
        <p:nvSpPr>
          <p:cNvPr id="58" name="Text 53"/>
          <p:cNvSpPr txBox="1"/>
          <p:nvPr/>
        </p:nvSpPr>
        <p:spPr>
          <a:xfrm>
            <a:off x="9738360" y="4937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9281160" y="5212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6080760" y="320040"/>
            <a:ext cx="914400" cy="914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6236208" y="475488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084" y="626364"/>
            <a:ext cx="301752" cy="301752"/>
          </a:xfrm>
          <a:prstGeom prst="rect">
            <a:avLst/>
          </a:prstGeom>
        </p:spPr>
      </p:pic>
      <p:sp>
        <p:nvSpPr>
          <p:cNvPr id="63" name="Shape 5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1036808" y="384048"/>
            <a:ext cx="603504" cy="60350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6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7684" y="534924"/>
            <a:ext cx="301752" cy="301752"/>
          </a:xfrm>
          <a:prstGeom prst="rect">
            <a:avLst/>
          </a:prstGeom>
        </p:spPr>
      </p:pic>
      <p:sp>
        <p:nvSpPr>
          <p:cNvPr id="66" name="Shape 59"/>
          <p:cNvSpPr/>
          <p:nvPr/>
        </p:nvSpPr>
        <p:spPr>
          <a:xfrm>
            <a:off x="11018520" y="2834640"/>
            <a:ext cx="914400" cy="914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1173968" y="2990088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4844" y="3140964"/>
            <a:ext cx="301752" cy="301752"/>
          </a:xfrm>
          <a:prstGeom prst="rect">
            <a:avLst/>
          </a:prstGeom>
        </p:spPr>
      </p:pic>
      <p:sp>
        <p:nvSpPr>
          <p:cNvPr id="69" name="Shape 61"/>
          <p:cNvSpPr/>
          <p:nvPr/>
        </p:nvSpPr>
        <p:spPr>
          <a:xfrm>
            <a:off x="6035040" y="3383280"/>
            <a:ext cx="914400" cy="9144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6190488" y="3538728"/>
            <a:ext cx="603504" cy="60350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1364" y="3689604"/>
            <a:ext cx="301752" cy="301752"/>
          </a:xfrm>
          <a:prstGeom prst="rect">
            <a:avLst/>
          </a:prstGeom>
        </p:spPr>
      </p:pic>
      <p:sp>
        <p:nvSpPr>
          <p:cNvPr id="72" name="Shape 63"/>
          <p:cNvSpPr/>
          <p:nvPr/>
        </p:nvSpPr>
        <p:spPr>
          <a:xfrm>
            <a:off x="10698480" y="5532120"/>
            <a:ext cx="914400" cy="914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10853928" y="5687568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4804" y="5838444"/>
            <a:ext cx="301752" cy="301752"/>
          </a:xfrm>
          <a:prstGeom prst="rect">
            <a:avLst/>
          </a:prstGeom>
        </p:spPr>
      </p:pic>
      <p:sp>
        <p:nvSpPr>
          <p:cNvPr id="75" name="Shape 65"/>
          <p:cNvSpPr/>
          <p:nvPr/>
        </p:nvSpPr>
        <p:spPr>
          <a:xfrm>
            <a:off x="6492240" y="5577840"/>
            <a:ext cx="914400" cy="9144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6647688" y="5733288"/>
            <a:ext cx="603504" cy="60350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7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8564" y="5884164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JOURNEY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Idea to Fintech Product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2174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× GFF 2026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by SBI × Global Fintech Fest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984248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161032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49652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672" y="22174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61032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234184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Theme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252472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Agentic AI &amp; Emerging Tech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596640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773424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62044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064" y="22174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773424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846576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5,000-Customer Prototype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864864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customer records in Google Colab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209032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385816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74436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456" y="221742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385816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458968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DigiMentor AI 3.0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477256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AI banking prototype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821424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6998208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386828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6848" y="221742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998208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7071360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Idea-Phase Submission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7089648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prototype &amp; demo video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433816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8610600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999220" y="205740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9240" y="2217420"/>
            <a:ext cx="320040" cy="32004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61060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8683752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8702040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independently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10046208" y="3108960"/>
            <a:ext cx="15849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10222992" y="1874520"/>
            <a:ext cx="1417320" cy="2514600"/>
          </a:xfrm>
          <a:prstGeom prst="roundRect">
            <a:avLst>
              <a:gd name="adj" fmla="val 7742"/>
            </a:avLst>
          </a:prstGeom>
          <a:solidFill>
            <a:srgbClr val="3B1C8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0611612" y="2057400"/>
            <a:ext cx="640080" cy="640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1632" y="2217420"/>
            <a:ext cx="320040" cy="32004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0222992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10296144" y="3035808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</a:t>
            </a:r>
            <a:endParaRPr lang="en-US" sz="1500" dirty="0"/>
          </a:p>
        </p:txBody>
      </p:sp>
      <p:sp>
        <p:nvSpPr>
          <p:cNvPr id="54" name="Text 45"/>
          <p:cNvSpPr txBox="1"/>
          <p:nvPr/>
        </p:nvSpPr>
        <p:spPr>
          <a:xfrm>
            <a:off x="10314432" y="3611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548640" y="470916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4983480"/>
            <a:ext cx="457200" cy="45720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1600200" y="48463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not to stop at the idea phase. We used the prototype as a foundation and expanded it into a broader financial intelligence platform.</a:t>
            </a:r>
            <a:endParaRPr lang="en-US" sz="1800" dirty="0"/>
          </a:p>
        </p:txBody>
      </p:sp>
      <p:sp>
        <p:nvSpPr>
          <p:cNvPr id="58" name="Text 48"/>
          <p:cNvSpPr txBox="1"/>
          <p:nvPr/>
        </p:nvSpPr>
        <p:spPr>
          <a:xfrm>
            <a:off x="1600200" y="5669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idea phase, we continued developing the concept independently and evolved it into MANSHORA.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Exists. Financial Understanding Doesn't.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PROBLEM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struggle to answer: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8972" y="293979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saving enough?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8972" y="330555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afford a loan?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8972" y="367131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emergency fund do I need?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8972" y="403707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8720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invest more?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8972" y="440283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8872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am I using digital banking?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972" y="476859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88720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financial goal should I prioritize?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fragmented financial information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19672" y="182880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48272" y="205740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219456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434072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PROBLEM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434072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hold data but need better ways to identify: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890004" y="293979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159752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gaps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890004" y="330555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159752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890004" y="367131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159752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opportunities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890004" y="403707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159752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opportunities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890004" y="440283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159752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signals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6890004" y="476859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159752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 actions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6885432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→ fragmented customer signals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774436" y="3319272"/>
            <a:ext cx="640080" cy="640080"/>
          </a:xfrm>
          <a:prstGeom prst="ellipse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028" y="3483864"/>
            <a:ext cx="310896" cy="310896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2194560" y="5623560"/>
            <a:ext cx="7799832" cy="658368"/>
          </a:xfrm>
          <a:prstGeom prst="roundRect">
            <a:avLst>
              <a:gd name="adj" fmla="val 16667"/>
            </a:avLst>
          </a:prstGeom>
          <a:solidFill>
            <a:srgbClr val="3B1C8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2194560" y="5623560"/>
            <a:ext cx="7799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missing layer is intelligence.”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79676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7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OUR SOLUTION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MANSHORA: One Intelligence Layer for Customers &amp; Banks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8972" y="2830068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43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8972" y="3140964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054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financial tracking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18972" y="345186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88720" y="3364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AI-style insights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18972" y="376275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18972" y="4073652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planning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18972" y="4384548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88720" y="4297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analysis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18972" y="4695444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88720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chatbot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8972" y="500634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88720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Life-event signals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291072" y="178308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19672" y="201168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4884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205472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 / MANAGERS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661404" y="2830068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931152" y="2743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661404" y="314096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931152" y="3054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analysis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6661404" y="3451860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931152" y="3364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6661404" y="376275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931152" y="3675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opportunities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6661404" y="4073652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931152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/ insurance opportunities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6661404" y="4384548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931152" y="4297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monitoring</a:t>
            </a:r>
            <a:endParaRPr lang="en-US" sz="1350" dirty="0"/>
          </a:p>
        </p:txBody>
      </p:sp>
      <p:sp>
        <p:nvSpPr>
          <p:cNvPr id="43" name="Shape 39"/>
          <p:cNvSpPr/>
          <p:nvPr/>
        </p:nvSpPr>
        <p:spPr>
          <a:xfrm>
            <a:off x="6661404" y="469544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931152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548640" y="5532120"/>
            <a:ext cx="1998878" cy="594360"/>
          </a:xfrm>
          <a:prstGeom prst="roundRect">
            <a:avLst>
              <a:gd name="adj" fmla="val 1846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48640" y="5532120"/>
            <a:ext cx="19988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2574950" y="58293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2821838" y="5532120"/>
            <a:ext cx="1998878" cy="594360"/>
          </a:xfrm>
          <a:prstGeom prst="roundRect">
            <a:avLst>
              <a:gd name="adj" fmla="val 1846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821838" y="5532120"/>
            <a:ext cx="19988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4848149" y="58293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5095037" y="5532120"/>
            <a:ext cx="1998878" cy="594360"/>
          </a:xfrm>
          <a:prstGeom prst="roundRect">
            <a:avLst>
              <a:gd name="adj" fmla="val 1846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095037" y="5532120"/>
            <a:ext cx="19988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7121347" y="58293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7368235" y="5532120"/>
            <a:ext cx="1998878" cy="594360"/>
          </a:xfrm>
          <a:prstGeom prst="roundRect">
            <a:avLst>
              <a:gd name="adj" fmla="val 1846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368235" y="5532120"/>
            <a:ext cx="19988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9394546" y="582930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9641434" y="5532120"/>
            <a:ext cx="1998878" cy="594360"/>
          </a:xfrm>
          <a:prstGeom prst="roundRect">
            <a:avLst>
              <a:gd name="adj" fmla="val 18462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9641434" y="5532120"/>
            <a:ext cx="19988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PRODUCT ECOSYSTEM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Multiple Intelligence Layers.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flipV="1">
            <a:off x="6094476" y="2240280"/>
            <a:ext cx="0" cy="182880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94476" y="2421388"/>
            <a:ext cx="1963879" cy="164769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4476" y="2928842"/>
            <a:ext cx="3538788" cy="114023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94476" y="3662134"/>
            <a:ext cx="4412797" cy="406946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4069080"/>
            <a:ext cx="4412797" cy="406946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4476" y="4069080"/>
            <a:ext cx="3538788" cy="114023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4476" y="4069080"/>
            <a:ext cx="1963879" cy="164769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4069080"/>
            <a:ext cx="0" cy="182880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4130597" y="4069080"/>
            <a:ext cx="1963879" cy="164769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2555688" y="4069080"/>
            <a:ext cx="3538788" cy="114023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681679" y="4069080"/>
            <a:ext cx="4412797" cy="406946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1681679" y="3662134"/>
            <a:ext cx="4412797" cy="406946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2555688" y="2928842"/>
            <a:ext cx="3538788" cy="1140238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4130597" y="2421388"/>
            <a:ext cx="1963879" cy="164769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8636" y="3063240"/>
            <a:ext cx="2011680" cy="201168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2956" y="3337560"/>
            <a:ext cx="1463040" cy="1463040"/>
          </a:xfrm>
          <a:prstGeom prst="ellipse">
            <a:avLst/>
          </a:prstGeom>
          <a:solidFill>
            <a:srgbClr val="3B1C8C"/>
          </a:solidFill>
          <a:ln w="12700">
            <a:solidFill>
              <a:srgbClr val="3B1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62956" y="3867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62956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80076" y="1984248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092" y="212140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637276" y="198424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43955" y="2165356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971" y="2302516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601155" y="21653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718864" y="2672810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880" y="2809970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176064" y="267281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592873" y="3406102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889" y="3543262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0050073" y="340610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Council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92873" y="4219994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0889" y="4357154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0050073" y="421999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718864" y="4953286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6880" y="5090446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176064" y="495328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Lab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143955" y="5460740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1971" y="5597900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601155" y="54607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5180076" y="5641848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8092" y="5779008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637276" y="564184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Advisor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3216197" y="5460740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4213" y="5597900"/>
            <a:ext cx="237744" cy="237744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673397" y="54607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Protection</a:t>
            </a:r>
            <a:endParaRPr lang="en-US" sz="1100" dirty="0"/>
          </a:p>
        </p:txBody>
      </p:sp>
      <p:sp>
        <p:nvSpPr>
          <p:cNvPr id="52" name="Shape 41"/>
          <p:cNvSpPr/>
          <p:nvPr/>
        </p:nvSpPr>
        <p:spPr>
          <a:xfrm>
            <a:off x="1641288" y="4953286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9304" y="5090446"/>
            <a:ext cx="237744" cy="237744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2098488" y="495328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Banking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767279" y="4219994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295" y="4357154"/>
            <a:ext cx="237744" cy="237744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1224479" y="421999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Hub</a:t>
            </a:r>
            <a:endParaRPr lang="en-US" sz="1100" dirty="0"/>
          </a:p>
        </p:txBody>
      </p:sp>
      <p:sp>
        <p:nvSpPr>
          <p:cNvPr id="58" name="Shape 45"/>
          <p:cNvSpPr/>
          <p:nvPr/>
        </p:nvSpPr>
        <p:spPr>
          <a:xfrm>
            <a:off x="767279" y="3406102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295" y="3543262"/>
            <a:ext cx="237744" cy="237744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1224479" y="340610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100" dirty="0"/>
          </a:p>
        </p:txBody>
      </p:sp>
      <p:sp>
        <p:nvSpPr>
          <p:cNvPr id="61" name="Shape 47"/>
          <p:cNvSpPr/>
          <p:nvPr/>
        </p:nvSpPr>
        <p:spPr>
          <a:xfrm>
            <a:off x="1641288" y="2672810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9304" y="2809970"/>
            <a:ext cx="237744" cy="237744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2098488" y="267281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100" dirty="0"/>
          </a:p>
        </p:txBody>
      </p:sp>
      <p:sp>
        <p:nvSpPr>
          <p:cNvPr id="64" name="Shape 49"/>
          <p:cNvSpPr/>
          <p:nvPr/>
        </p:nvSpPr>
        <p:spPr>
          <a:xfrm>
            <a:off x="3216197" y="2165356"/>
            <a:ext cx="1828800" cy="512064"/>
          </a:xfrm>
          <a:prstGeom prst="roundRect">
            <a:avLst>
              <a:gd name="adj" fmla="val 25000"/>
            </a:avLst>
          </a:prstGeom>
          <a:solidFill>
            <a:srgbClr val="0F1730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4213" y="2302516"/>
            <a:ext cx="237744" cy="237744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3673397" y="21653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67" name="Shape 51"/>
          <p:cNvSpPr/>
          <p:nvPr/>
        </p:nvSpPr>
        <p:spPr>
          <a:xfrm>
            <a:off x="626364" y="620420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52"/>
          <p:cNvSpPr txBox="1"/>
          <p:nvPr/>
        </p:nvSpPr>
        <p:spPr>
          <a:xfrm>
            <a:off x="868680" y="6172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2318004" y="620420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0" name="Text 54"/>
          <p:cNvSpPr txBox="1"/>
          <p:nvPr/>
        </p:nvSpPr>
        <p:spPr>
          <a:xfrm>
            <a:off x="2560320" y="6172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Bank-facing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12848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TRUST BY DESIGN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We Never Break: No Fake Data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108960" cy="3611880"/>
          </a:xfrm>
          <a:prstGeom prst="roundRect">
            <a:avLst>
              <a:gd name="adj" fmla="val 352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INPUT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27889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15468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31546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352044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35204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388620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388620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425196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42519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461772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0120" y="46177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7240" y="4983480"/>
            <a:ext cx="265176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" y="49834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usage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703320" y="3566160"/>
            <a:ext cx="411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160520" y="1783080"/>
            <a:ext cx="3200400" cy="3611880"/>
          </a:xfrm>
          <a:prstGeom prst="roundRect">
            <a:avLst>
              <a:gd name="adj" fmla="val 3429"/>
            </a:avLst>
          </a:prstGeom>
          <a:solidFill>
            <a:srgbClr val="0F173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0" y="201168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14884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074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INSIGHTS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389120" y="2788920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72000" y="27889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389120" y="3154680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572000" y="315468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 &amp; DTI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389120" y="3520440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72000" y="352044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389120" y="3886200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72000" y="38862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score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38912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information is unavailable: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389120" y="4709160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389120" y="4709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Provided”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7406640" y="3566160"/>
            <a:ext cx="411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7863840" y="1783080"/>
            <a:ext cx="3776472" cy="3611880"/>
          </a:xfrm>
          <a:prstGeom prst="roundRect">
            <a:avLst>
              <a:gd name="adj" fmla="val 3038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RULES</a:t>
            </a:r>
            <a:endParaRPr lang="en-US" sz="14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542032"/>
            <a:ext cx="219456" cy="219456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503920" y="24871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customer numbers</a:t>
            </a:r>
            <a:endParaRPr lang="en-US" sz="125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017520"/>
            <a:ext cx="219456" cy="219456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8503920" y="2962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financial outcomes</a:t>
            </a:r>
            <a:endParaRPr lang="en-US" sz="125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93008"/>
            <a:ext cx="219456" cy="219456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8503920" y="34381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calculated from available inputs</a:t>
            </a:r>
            <a:endParaRPr lang="en-US" sz="125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968496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503920" y="3913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information explicitly shown</a:t>
            </a:r>
            <a:endParaRPr lang="en-US" sz="125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443984"/>
            <a:ext cx="219456" cy="21945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8503920" y="4389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outputs are labelled</a:t>
            </a:r>
            <a:endParaRPr lang="en-US" sz="125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919472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8503920" y="4864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educational, not guaranteed advice</a:t>
            </a:r>
            <a:endParaRPr lang="en-US" sz="1250" dirty="0"/>
          </a:p>
        </p:txBody>
      </p:sp>
      <p:sp>
        <p:nvSpPr>
          <p:cNvPr id="56" name="Text 4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a feature.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12364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MONTHLY FINANCIAL MEMORY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Financial Story, Month by Month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→ December timeline  ·  earlier months are retained, never overwritten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98270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0566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80566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0196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2492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12492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62122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4418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4418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94048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6344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76344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5974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8270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08270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57900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0196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40196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89826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2122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72122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21752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4048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04048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53678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35974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35974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785604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67900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67900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717530" y="2386584"/>
            <a:ext cx="73152" cy="0"/>
          </a:xfrm>
          <a:prstGeom prst="line">
            <a:avLst/>
          </a:prstGeom>
          <a:noFill/>
          <a:ln w="12700">
            <a:solidFill>
              <a:srgbClr val="2B38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99826" y="2103120"/>
            <a:ext cx="840486" cy="566928"/>
          </a:xfrm>
          <a:prstGeom prst="roundRect">
            <a:avLst>
              <a:gd name="adj" fmla="val 16129"/>
            </a:avLst>
          </a:prstGeom>
          <a:solidFill>
            <a:srgbClr val="141F4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799826" y="2103120"/>
            <a:ext cx="8404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 STORES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2461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" y="34975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3623310"/>
            <a:ext cx="251460" cy="251460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417320" y="3246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2788920" y="32461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94660" y="34975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0390" y="3623310"/>
            <a:ext cx="251460" cy="251460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3657600" y="3246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5029200" y="32461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234940" y="34975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670" y="3623310"/>
            <a:ext cx="251460" cy="25146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5897880" y="3246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1500" dirty="0"/>
          </a:p>
        </p:txBody>
      </p:sp>
      <p:sp>
        <p:nvSpPr>
          <p:cNvPr id="56" name="Shape 51"/>
          <p:cNvSpPr/>
          <p:nvPr/>
        </p:nvSpPr>
        <p:spPr>
          <a:xfrm>
            <a:off x="7269480" y="32461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475220" y="34975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950" y="3623310"/>
            <a:ext cx="251460" cy="251460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8138160" y="3246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500" dirty="0"/>
          </a:p>
        </p:txBody>
      </p:sp>
      <p:sp>
        <p:nvSpPr>
          <p:cNvPr id="60" name="Shape 54"/>
          <p:cNvSpPr/>
          <p:nvPr/>
        </p:nvSpPr>
        <p:spPr>
          <a:xfrm>
            <a:off x="9509760" y="32461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9715500" y="34975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1230" y="3623310"/>
            <a:ext cx="251460" cy="25146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10378440" y="3246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500" dirty="0"/>
          </a:p>
        </p:txBody>
      </p:sp>
      <p:sp>
        <p:nvSpPr>
          <p:cNvPr id="64" name="Shape 57"/>
          <p:cNvSpPr/>
          <p:nvPr/>
        </p:nvSpPr>
        <p:spPr>
          <a:xfrm>
            <a:off x="548640" y="4572000"/>
            <a:ext cx="1998878" cy="640080"/>
          </a:xfrm>
          <a:prstGeom prst="roundRect">
            <a:avLst>
              <a:gd name="adj" fmla="val 17143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548640" y="457200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</a:t>
            </a:r>
            <a:endParaRPr lang="en-US" sz="1400" dirty="0"/>
          </a:p>
        </p:txBody>
      </p:sp>
      <p:sp>
        <p:nvSpPr>
          <p:cNvPr id="66" name="Shape 59"/>
          <p:cNvSpPr/>
          <p:nvPr/>
        </p:nvSpPr>
        <p:spPr>
          <a:xfrm>
            <a:off x="2574950" y="48920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67" name="Shape 60"/>
          <p:cNvSpPr/>
          <p:nvPr/>
        </p:nvSpPr>
        <p:spPr>
          <a:xfrm>
            <a:off x="2821838" y="4572000"/>
            <a:ext cx="1998878" cy="640080"/>
          </a:xfrm>
          <a:prstGeom prst="roundRect">
            <a:avLst>
              <a:gd name="adj" fmla="val 17143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2821838" y="457200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400" dirty="0"/>
          </a:p>
        </p:txBody>
      </p:sp>
      <p:sp>
        <p:nvSpPr>
          <p:cNvPr id="69" name="Shape 62"/>
          <p:cNvSpPr/>
          <p:nvPr/>
        </p:nvSpPr>
        <p:spPr>
          <a:xfrm>
            <a:off x="4848149" y="48920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0" name="Shape 63"/>
          <p:cNvSpPr/>
          <p:nvPr/>
        </p:nvSpPr>
        <p:spPr>
          <a:xfrm>
            <a:off x="5095037" y="4572000"/>
            <a:ext cx="1998878" cy="640080"/>
          </a:xfrm>
          <a:prstGeom prst="roundRect">
            <a:avLst>
              <a:gd name="adj" fmla="val 17143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5095037" y="457200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  <p:sp>
        <p:nvSpPr>
          <p:cNvPr id="72" name="Shape 65"/>
          <p:cNvSpPr/>
          <p:nvPr/>
        </p:nvSpPr>
        <p:spPr>
          <a:xfrm>
            <a:off x="7121347" y="48920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3" name="Shape 66"/>
          <p:cNvSpPr/>
          <p:nvPr/>
        </p:nvSpPr>
        <p:spPr>
          <a:xfrm>
            <a:off x="7368235" y="4572000"/>
            <a:ext cx="1998878" cy="640080"/>
          </a:xfrm>
          <a:prstGeom prst="roundRect">
            <a:avLst>
              <a:gd name="adj" fmla="val 17143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7368235" y="457200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400" dirty="0"/>
          </a:p>
        </p:txBody>
      </p:sp>
      <p:sp>
        <p:nvSpPr>
          <p:cNvPr id="75" name="Shape 68"/>
          <p:cNvSpPr/>
          <p:nvPr/>
        </p:nvSpPr>
        <p:spPr>
          <a:xfrm>
            <a:off x="9394546" y="489204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6" name="Shape 69"/>
          <p:cNvSpPr/>
          <p:nvPr/>
        </p:nvSpPr>
        <p:spPr>
          <a:xfrm>
            <a:off x="9641434" y="4572000"/>
            <a:ext cx="1998878" cy="640080"/>
          </a:xfrm>
          <a:prstGeom prst="roundRect">
            <a:avLst>
              <a:gd name="adj" fmla="val 17143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9641434" y="4572000"/>
            <a:ext cx="199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78" name="Shape 71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3B1C8C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history becomes the foundation for every downstream insight.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067812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067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FINANCIAL HEALTH DASHBOARD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Numbers to a Financial Health Score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080760" cy="4434840"/>
          </a:xfrm>
          <a:prstGeom prst="roundRect">
            <a:avLst>
              <a:gd name="adj" fmla="val 2474"/>
            </a:avLst>
          </a:prstGeom>
          <a:solidFill>
            <a:srgbClr val="0F1730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" y="2007108"/>
            <a:ext cx="100584" cy="10058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5548" y="2007108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" y="2007108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1947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9202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42316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242316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81635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42316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592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736592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352044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206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52044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816352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816352" y="4206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income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52044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36592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736592" y="3886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4206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" y="461772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" y="4709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Loans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96112" y="4983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96112" y="5303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97480" y="461772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16352" y="4709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816352" y="4983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2816352" y="5303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inv. − loans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4617720"/>
            <a:ext cx="1783080" cy="978408"/>
          </a:xfrm>
          <a:prstGeom prst="roundRect">
            <a:avLst>
              <a:gd name="adj" fmla="val 11215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36592" y="4709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736592" y="4983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4736592" y="5303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5806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score is shown values populate only from user input.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58000" y="1783080"/>
            <a:ext cx="4782312" cy="621792"/>
          </a:xfrm>
          <a:prstGeom prst="roundRect">
            <a:avLst>
              <a:gd name="adj" fmla="val 17647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40880" y="1856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7040880" y="2084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(Income − Expenses) ÷ Income × 100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858000" y="2496312"/>
            <a:ext cx="4782312" cy="621792"/>
          </a:xfrm>
          <a:prstGeom prst="roundRect">
            <a:avLst>
              <a:gd name="adj" fmla="val 17647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40880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704088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EMI ÷ Monthly Income × 100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858000" y="3209544"/>
            <a:ext cx="4782312" cy="621792"/>
          </a:xfrm>
          <a:prstGeom prst="roundRect">
            <a:avLst>
              <a:gd name="adj" fmla="val 17647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4088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040880" y="3511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Investments − Loans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6858000" y="3977640"/>
            <a:ext cx="4782312" cy="2240280"/>
          </a:xfrm>
          <a:prstGeom prst="roundRect">
            <a:avLst>
              <a:gd name="adj" fmla="val 4898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40880" y="4087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 ·  100 POINTS</a:t>
            </a:r>
            <a:endParaRPr lang="en-US" sz="950" dirty="0"/>
          </a:p>
        </p:txBody>
      </p:sp>
      <p:graphicFrame>
        <p:nvGraphicFramePr>
          <p:cNvPr id="62" name="Chart 0"/>
          <p:cNvGraphicFramePr/>
          <p:nvPr/>
        </p:nvGraphicFramePr>
        <p:xfrm>
          <a:off x="6903720" y="4297680"/>
          <a:ext cx="19202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3" name="Text 60"/>
          <p:cNvSpPr txBox="1"/>
          <p:nvPr/>
        </p:nvSpPr>
        <p:spPr>
          <a:xfrm>
            <a:off x="6903720" y="5010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64" name="Text 61"/>
          <p:cNvSpPr txBox="1"/>
          <p:nvPr/>
        </p:nvSpPr>
        <p:spPr>
          <a:xfrm>
            <a:off x="6903720" y="5349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8988552" y="4489704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235440" y="44348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pts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9875520" y="44348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8988552" y="489204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235440" y="483717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9875520" y="483717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DTI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8988552" y="529437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235440" y="5239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300" dirty="0"/>
          </a:p>
        </p:txBody>
      </p:sp>
      <p:sp>
        <p:nvSpPr>
          <p:cNvPr id="73" name="Text 70"/>
          <p:cNvSpPr txBox="1"/>
          <p:nvPr/>
        </p:nvSpPr>
        <p:spPr>
          <a:xfrm>
            <a:off x="9875520" y="52395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988552" y="569671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235440" y="56418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300" dirty="0"/>
          </a:p>
        </p:txBody>
      </p:sp>
      <p:sp>
        <p:nvSpPr>
          <p:cNvPr id="76" name="Text 73"/>
          <p:cNvSpPr txBox="1"/>
          <p:nvPr/>
        </p:nvSpPr>
        <p:spPr>
          <a:xfrm>
            <a:off x="9875520" y="564184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2326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FINANCIAL DNA &amp; DIGITAL TWIN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Customer Beyond a Number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760720" cy="4434840"/>
          </a:xfrm>
          <a:prstGeom prst="roundRect">
            <a:avLst>
              <a:gd name="adj" fmla="val 2474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892808"/>
            <a:ext cx="297180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1892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 · NOT A REAL CUSTOMER</a:t>
            </a:r>
            <a:endParaRPr lang="en-US" sz="8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77240" y="2240280"/>
          <a:ext cx="5303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9"/>
          <p:cNvSpPr/>
          <p:nvPr/>
        </p:nvSpPr>
        <p:spPr>
          <a:xfrm>
            <a:off x="6537960" y="1783080"/>
            <a:ext cx="5102352" cy="1325880"/>
          </a:xfrm>
          <a:prstGeom prst="roundRect">
            <a:avLst>
              <a:gd name="adj" fmla="val 8276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228600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21040" y="228600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75520" y="228600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B7185">
              <a:alpha val="18000"/>
            </a:srgbClr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7552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834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per customer, derived from their profile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3246120"/>
            <a:ext cx="5102352" cy="1325880"/>
          </a:xfrm>
          <a:prstGeom prst="roundRect">
            <a:avLst>
              <a:gd name="adj" fmla="val 8276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GAPS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37490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3749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75320" y="374904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3749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921240" y="37490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21240" y="3749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Banking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42062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flagged where usage is missing or low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37960" y="4709160"/>
            <a:ext cx="5102352" cy="1508760"/>
          </a:xfrm>
          <a:prstGeom prst="roundRect">
            <a:avLst>
              <a:gd name="adj" fmla="val 7273"/>
            </a:avLst>
          </a:prstGeom>
          <a:solidFill>
            <a:srgbClr val="3B1C8C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89420" y="5170932"/>
            <a:ext cx="594360" cy="59436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010" y="5319522"/>
            <a:ext cx="297180" cy="29718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589520" y="4846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multidimensional customer profile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7589520" y="52303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isolated financial metrics. Searchable in the Customer Hub by name, ID or city.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35124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135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AI COUNCIL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Specialist Agents. One Council Synthesis.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892808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488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189280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02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7490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18928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404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492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189280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9494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189280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0408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5496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9368" y="1892808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6410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10149840" y="178308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9568" y="1892808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241280" y="2148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5486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2715768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00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21488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8568" y="2715768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22402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37490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8768" y="2715768"/>
            <a:ext cx="219456" cy="21945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8404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53492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8968" y="2715768"/>
            <a:ext cx="219456" cy="21945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4406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69494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9168" y="2715768"/>
            <a:ext cx="219456" cy="219456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0408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3" name="Shape 29"/>
          <p:cNvSpPr/>
          <p:nvPr/>
        </p:nvSpPr>
        <p:spPr>
          <a:xfrm>
            <a:off x="85496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9368" y="2715768"/>
            <a:ext cx="219456" cy="219456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6410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</a:t>
            </a:r>
            <a:endParaRPr lang="en-US" sz="1050" dirty="0"/>
          </a:p>
        </p:txBody>
      </p:sp>
      <p:sp>
        <p:nvSpPr>
          <p:cNvPr id="46" name="Shape 31"/>
          <p:cNvSpPr/>
          <p:nvPr/>
        </p:nvSpPr>
        <p:spPr>
          <a:xfrm>
            <a:off x="10149840" y="2606040"/>
            <a:ext cx="1490472" cy="713232"/>
          </a:xfrm>
          <a:prstGeom prst="roundRect">
            <a:avLst>
              <a:gd name="adj" fmla="val 1282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59568" y="2715768"/>
            <a:ext cx="219456" cy="219456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10241280" y="297180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050" dirty="0"/>
          </a:p>
        </p:txBody>
      </p:sp>
      <p:sp>
        <p:nvSpPr>
          <p:cNvPr id="49" name="Text 33"/>
          <p:cNvSpPr txBox="1"/>
          <p:nvPr/>
        </p:nvSpPr>
        <p:spPr>
          <a:xfrm>
            <a:off x="5486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RETURNS</a:t>
            </a:r>
            <a:endParaRPr lang="en-US" sz="1050" dirty="0"/>
          </a:p>
        </p:txBody>
      </p:sp>
      <p:sp>
        <p:nvSpPr>
          <p:cNvPr id="50" name="Shape 34"/>
          <p:cNvSpPr/>
          <p:nvPr/>
        </p:nvSpPr>
        <p:spPr>
          <a:xfrm>
            <a:off x="2743200" y="350215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274320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4544568" y="3639312"/>
            <a:ext cx="32918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3" name="Shape 37"/>
          <p:cNvSpPr/>
          <p:nvPr/>
        </p:nvSpPr>
        <p:spPr>
          <a:xfrm>
            <a:off x="4892040" y="350215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4" name="Text 38"/>
          <p:cNvSpPr txBox="1"/>
          <p:nvPr/>
        </p:nvSpPr>
        <p:spPr>
          <a:xfrm>
            <a:off x="489204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55" name="Shape 39"/>
          <p:cNvSpPr/>
          <p:nvPr/>
        </p:nvSpPr>
        <p:spPr>
          <a:xfrm>
            <a:off x="6693408" y="3639312"/>
            <a:ext cx="32918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6" name="Shape 40"/>
          <p:cNvSpPr/>
          <p:nvPr/>
        </p:nvSpPr>
        <p:spPr>
          <a:xfrm>
            <a:off x="7040880" y="350215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7" name="Text 41"/>
          <p:cNvSpPr txBox="1"/>
          <p:nvPr/>
        </p:nvSpPr>
        <p:spPr>
          <a:xfrm>
            <a:off x="704088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58" name="Shape 42"/>
          <p:cNvSpPr/>
          <p:nvPr/>
        </p:nvSpPr>
        <p:spPr>
          <a:xfrm>
            <a:off x="8842248" y="3639312"/>
            <a:ext cx="32918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9" name="Shape 43"/>
          <p:cNvSpPr/>
          <p:nvPr/>
        </p:nvSpPr>
        <p:spPr>
          <a:xfrm>
            <a:off x="9189720" y="350215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918972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61" name="Shape 45"/>
          <p:cNvSpPr/>
          <p:nvPr/>
        </p:nvSpPr>
        <p:spPr>
          <a:xfrm>
            <a:off x="6094476" y="384048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62" name="Shape 46"/>
          <p:cNvSpPr/>
          <p:nvPr/>
        </p:nvSpPr>
        <p:spPr>
          <a:xfrm>
            <a:off x="548640" y="416052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3B1C8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3" name="Text 47"/>
          <p:cNvSpPr txBox="1"/>
          <p:nvPr/>
        </p:nvSpPr>
        <p:spPr>
          <a:xfrm>
            <a:off x="77724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SYNTHESIS</a:t>
            </a:r>
            <a:endParaRPr lang="en-US" sz="1100" dirty="0"/>
          </a:p>
        </p:txBody>
      </p:sp>
      <p:sp>
        <p:nvSpPr>
          <p:cNvPr id="64" name="Shape 48"/>
          <p:cNvSpPr/>
          <p:nvPr/>
        </p:nvSpPr>
        <p:spPr>
          <a:xfrm>
            <a:off x="777240" y="45720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832" y="4800600"/>
            <a:ext cx="237744" cy="237744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132588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</a:t>
            </a:r>
            <a:endParaRPr lang="en-US" sz="1300" dirty="0"/>
          </a:p>
        </p:txBody>
      </p:sp>
      <p:sp>
        <p:nvSpPr>
          <p:cNvPr id="67" name="Shape 50"/>
          <p:cNvSpPr/>
          <p:nvPr/>
        </p:nvSpPr>
        <p:spPr>
          <a:xfrm>
            <a:off x="3474720" y="45720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9312" y="4800600"/>
            <a:ext cx="237744" cy="237744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402336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Opportunity</a:t>
            </a:r>
            <a:endParaRPr lang="en-US" sz="1300" dirty="0"/>
          </a:p>
        </p:txBody>
      </p:sp>
      <p:sp>
        <p:nvSpPr>
          <p:cNvPr id="70" name="Shape 52"/>
          <p:cNvSpPr/>
          <p:nvPr/>
        </p:nvSpPr>
        <p:spPr>
          <a:xfrm>
            <a:off x="6172200" y="45720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6792" y="4800600"/>
            <a:ext cx="237744" cy="237744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672084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300" dirty="0"/>
          </a:p>
        </p:txBody>
      </p:sp>
      <p:sp>
        <p:nvSpPr>
          <p:cNvPr id="73" name="Shape 54"/>
          <p:cNvSpPr/>
          <p:nvPr/>
        </p:nvSpPr>
        <p:spPr>
          <a:xfrm>
            <a:off x="8869680" y="457200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74" name="Image 1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34272" y="4800600"/>
            <a:ext cx="237744" cy="237744"/>
          </a:xfrm>
          <a:prstGeom prst="rect">
            <a:avLst/>
          </a:prstGeom>
        </p:spPr>
      </p:pic>
      <p:sp>
        <p:nvSpPr>
          <p:cNvPr id="75" name="Text 55"/>
          <p:cNvSpPr txBox="1"/>
          <p:nvPr/>
        </p:nvSpPr>
        <p:spPr>
          <a:xfrm>
            <a:off x="941832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1300" dirty="0"/>
          </a:p>
        </p:txBody>
      </p:sp>
      <p:sp>
        <p:nvSpPr>
          <p:cNvPr id="76" name="Shape 56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/>
            </a:solidFill>
            <a:prstDash val="solid"/>
          </a:ln>
        </p:spPr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9808" y="5797296"/>
            <a:ext cx="292608" cy="292608"/>
          </a:xfrm>
          <a:prstGeom prst="rect">
            <a:avLst/>
          </a:prstGeom>
        </p:spPr>
      </p:pic>
      <p:sp>
        <p:nvSpPr>
          <p:cNvPr id="78" name="Text 57"/>
          <p:cNvSpPr txBox="1"/>
          <p:nvPr/>
        </p:nvSpPr>
        <p:spPr>
          <a:xfrm>
            <a:off x="1207008" y="562356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uses rule-based logic and heuristics. It does not expose hidden chain-of-thought or claim autonomous LLM reasoning.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300984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DIGITAL ADOPTION INTELLIGENCE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Digital Usage to Digital Adoption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3020" y="194310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06883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103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926080" y="17830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0460" y="194310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190" y="206883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103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5303520" y="178308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57900" y="194310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630" y="20688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0352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Banking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726680" y="2377440"/>
            <a:ext cx="4572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229600" y="1783080"/>
            <a:ext cx="3410712" cy="1188720"/>
          </a:xfrm>
          <a:prstGeom prst="roundRect">
            <a:avLst>
              <a:gd name="adj" fmla="val 9231"/>
            </a:avLst>
          </a:prstGeom>
          <a:solidFill>
            <a:srgbClr val="3B1C8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0" y="20116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 SCORE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0" y="23774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0–100, calculated from user input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934956" y="2971800"/>
            <a:ext cx="0" cy="228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flipH="1">
            <a:off x="1856232" y="3200400"/>
            <a:ext cx="8078724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856232" y="3200400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4864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0100" y="374904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387477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463040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3172968" y="4000500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3374136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625596" y="374904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1326" y="387477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288536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Action Plan</a:t>
            </a:r>
            <a:endParaRPr lang="en-US" sz="1350" dirty="0"/>
          </a:p>
        </p:txBody>
      </p:sp>
      <p:sp>
        <p:nvSpPr>
          <p:cNvPr id="37" name="Shape 30"/>
          <p:cNvSpPr/>
          <p:nvPr/>
        </p:nvSpPr>
        <p:spPr>
          <a:xfrm>
            <a:off x="5998464" y="4000500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6199632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51092" y="374904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6822" y="3874770"/>
            <a:ext cx="251460" cy="2514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114032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Nudges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8823960" y="4000500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9025128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276588" y="374904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318" y="3874770"/>
            <a:ext cx="251460" cy="25146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9939528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Next Products</a:t>
            </a:r>
            <a:endParaRPr lang="en-US" sz="1350" dirty="0"/>
          </a:p>
        </p:txBody>
      </p:sp>
      <p:sp>
        <p:nvSpPr>
          <p:cNvPr id="47" name="Shape 38"/>
          <p:cNvSpPr/>
          <p:nvPr/>
        </p:nvSpPr>
        <p:spPr>
          <a:xfrm>
            <a:off x="548640" y="475488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349240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508760" y="4937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GFF THEME 2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1508760" y="5212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Adoption: payments, investments, insurance and mobile banking.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5669280" y="4754880"/>
            <a:ext cx="5971032" cy="1463040"/>
          </a:xfrm>
          <a:prstGeom prst="roundRect">
            <a:avLst>
              <a:gd name="adj" fmla="val 7500"/>
            </a:avLst>
          </a:prstGeom>
          <a:solidFill>
            <a:srgbClr val="3B1C8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5943600" y="475488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just measure adoption. Identify the next digital action.”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378708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378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LIFE EVENTS &amp; NEXT-BEST ACTION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Signals Before They Become Decisions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1357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657" y="203454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Hike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150146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2863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163" y="20345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95866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751653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64370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670" y="20345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97373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353159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65876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0345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8879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Purchase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954665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67382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682" y="2034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00385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556171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068889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3189" y="203454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601891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0157678" y="1783080"/>
            <a:ext cx="1482634" cy="1051560"/>
          </a:xfrm>
          <a:prstGeom prst="roundRect">
            <a:avLst>
              <a:gd name="adj" fmla="val 10435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0670395" y="1920240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4695" y="203454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203398" y="2423160"/>
            <a:ext cx="1391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48640" y="3108960"/>
            <a:ext cx="2567178" cy="777240"/>
          </a:xfrm>
          <a:prstGeom prst="roundRect">
            <a:avLst>
              <a:gd name="adj" fmla="val 1411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548640" y="31089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Change + Stated Goal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3143250" y="349758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3390138" y="3108960"/>
            <a:ext cx="2567178" cy="777240"/>
          </a:xfrm>
          <a:prstGeom prst="roundRect">
            <a:avLst>
              <a:gd name="adj" fmla="val 1411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3390138" y="31089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5984748" y="349758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6231636" y="3108960"/>
            <a:ext cx="2567178" cy="777240"/>
          </a:xfrm>
          <a:prstGeom prst="roundRect">
            <a:avLst>
              <a:gd name="adj" fmla="val 1411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231636" y="31089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Life Event</a:t>
            </a:r>
            <a:endParaRPr lang="en-US" sz="1350" dirty="0"/>
          </a:p>
        </p:txBody>
      </p:sp>
      <p:sp>
        <p:nvSpPr>
          <p:cNvPr id="43" name="Shape 34"/>
          <p:cNvSpPr/>
          <p:nvPr/>
        </p:nvSpPr>
        <p:spPr>
          <a:xfrm>
            <a:off x="8826246" y="3497580"/>
            <a:ext cx="2194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9073134" y="3108960"/>
            <a:ext cx="2567178" cy="777240"/>
          </a:xfrm>
          <a:prstGeom prst="roundRect">
            <a:avLst>
              <a:gd name="adj" fmla="val 14118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9073134" y="31089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Financial Action</a:t>
            </a:r>
            <a:endParaRPr lang="en-US" sz="1350" dirty="0"/>
          </a:p>
        </p:txBody>
      </p:sp>
      <p:sp>
        <p:nvSpPr>
          <p:cNvPr id="46" name="Shape 37"/>
          <p:cNvSpPr/>
          <p:nvPr/>
        </p:nvSpPr>
        <p:spPr>
          <a:xfrm>
            <a:off x="3108960" y="4069080"/>
            <a:ext cx="5971032" cy="457200"/>
          </a:xfrm>
          <a:prstGeom prst="roundRect">
            <a:avLst>
              <a:gd name="adj" fmla="val 50000"/>
            </a:avLst>
          </a:prstGeom>
          <a:solidFill>
            <a:srgbClr val="FBBF24">
              <a:alpha val="14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3108960" y="406908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Signal — Not a confirmed life event.</a:t>
            </a:r>
            <a:endParaRPr lang="en-US" sz="1350" dirty="0"/>
          </a:p>
        </p:txBody>
      </p:sp>
      <p:sp>
        <p:nvSpPr>
          <p:cNvPr id="48" name="Text 39"/>
          <p:cNvSpPr txBox="1"/>
          <p:nvPr/>
        </p:nvSpPr>
        <p:spPr>
          <a:xfrm>
            <a:off x="548640" y="47091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 ·  EXAMPLES (EDUCATIONAL, NO GUARANTEED OUTCOMES)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548640" y="502920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800100" y="537210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830" y="5497830"/>
            <a:ext cx="251460" cy="25146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463040" y="5166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Hike signal</a:t>
            </a:r>
            <a:endParaRPr lang="en-US" sz="1250" dirty="0"/>
          </a:p>
        </p:txBody>
      </p:sp>
      <p:sp>
        <p:nvSpPr>
          <p:cNvPr id="53" name="Text 43"/>
          <p:cNvSpPr txBox="1"/>
          <p:nvPr/>
        </p:nvSpPr>
        <p:spPr>
          <a:xfrm>
            <a:off x="1463040" y="54681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whether to raise your monthly SIP</a:t>
            </a:r>
            <a:endParaRPr lang="en-US" sz="1300" dirty="0"/>
          </a:p>
        </p:txBody>
      </p:sp>
      <p:sp>
        <p:nvSpPr>
          <p:cNvPr id="54" name="Shape 44"/>
          <p:cNvSpPr/>
          <p:nvPr/>
        </p:nvSpPr>
        <p:spPr>
          <a:xfrm>
            <a:off x="4297680" y="502920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4549140" y="537210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4870" y="5497830"/>
            <a:ext cx="251460" cy="25146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5212080" y="5166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Purchase goal</a:t>
            </a:r>
            <a:endParaRPr lang="en-US" sz="1250" dirty="0"/>
          </a:p>
        </p:txBody>
      </p:sp>
      <p:sp>
        <p:nvSpPr>
          <p:cNvPr id="58" name="Text 47"/>
          <p:cNvSpPr txBox="1"/>
          <p:nvPr/>
        </p:nvSpPr>
        <p:spPr>
          <a:xfrm>
            <a:off x="5212080" y="54681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EMI affordability in the Simulation Lab</a:t>
            </a:r>
            <a:endParaRPr lang="en-US" sz="1300" dirty="0"/>
          </a:p>
        </p:txBody>
      </p:sp>
      <p:sp>
        <p:nvSpPr>
          <p:cNvPr id="59" name="Shape 48"/>
          <p:cNvSpPr/>
          <p:nvPr/>
        </p:nvSpPr>
        <p:spPr>
          <a:xfrm>
            <a:off x="8046720" y="502920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8298180" y="5372100"/>
            <a:ext cx="502920" cy="5029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3910" y="5497830"/>
            <a:ext cx="251460" cy="25146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961120" y="5166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</a:t>
            </a:r>
            <a:endParaRPr lang="en-US" sz="1250" dirty="0"/>
          </a:p>
        </p:txBody>
      </p:sp>
      <p:sp>
        <p:nvSpPr>
          <p:cNvPr id="63" name="Text 51"/>
          <p:cNvSpPr txBox="1"/>
          <p:nvPr/>
        </p:nvSpPr>
        <p:spPr>
          <a:xfrm>
            <a:off x="8961120" y="54681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Retirement Simulator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767328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AI CHATBOT, VOICE &amp; FINANCIAL COACH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Money. Get an Action Plan.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943600" cy="4480560"/>
          </a:xfrm>
          <a:prstGeom prst="roundRect">
            <a:avLst>
              <a:gd name="adj" fmla="val 2449"/>
            </a:avLst>
          </a:prstGeom>
          <a:solidFill>
            <a:srgbClr val="0F1730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0802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Assistant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80560" y="205740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2057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|  हिंदी  |  தமிழ்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66160" y="2606040"/>
            <a:ext cx="2697480" cy="411480"/>
          </a:xfrm>
          <a:prstGeom prst="roundRect">
            <a:avLst>
              <a:gd name="adj" fmla="val 44444"/>
            </a:avLst>
          </a:prstGeom>
          <a:solidFill>
            <a:srgbClr val="8B5CF6">
              <a:alpha val="7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2606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save more?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08960" y="3127248"/>
            <a:ext cx="3154680" cy="411480"/>
          </a:xfrm>
          <a:prstGeom prst="roundRect">
            <a:avLst>
              <a:gd name="adj" fmla="val 44444"/>
            </a:avLst>
          </a:prstGeom>
          <a:solidFill>
            <a:srgbClr val="8B5CF6">
              <a:alpha val="7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31272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afford a ₹10 lakh car?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3657600"/>
            <a:ext cx="5257800" cy="1920240"/>
          </a:xfrm>
          <a:prstGeom prst="roundRect">
            <a:avLst>
              <a:gd name="adj" fmla="val 6667"/>
            </a:avLst>
          </a:prstGeom>
          <a:solidFill>
            <a:srgbClr val="141F4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0976" y="3803904"/>
            <a:ext cx="292608" cy="292608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0976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767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0" y="3767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EMI and DTI shape affordability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0976" y="4251960"/>
            <a:ext cx="292608" cy="292608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4215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42153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P×r×(1+r)ⁿ ÷ ((1+r)ⁿ − 1)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50976" y="4700016"/>
            <a:ext cx="292608" cy="292608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0976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37160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743200" y="4663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against your own income data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50976" y="5148072"/>
            <a:ext cx="292608" cy="292608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50976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371600" y="5111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743200" y="51114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next steps to take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77240" y="5669280"/>
            <a:ext cx="5257800" cy="457200"/>
          </a:xfrm>
          <a:prstGeom prst="roundRect">
            <a:avLst>
              <a:gd name="adj" fmla="val 50000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51560" y="5669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your money…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586984" y="5724144"/>
            <a:ext cx="347472" cy="3474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5797296"/>
            <a:ext cx="164592" cy="20116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720840" y="1783080"/>
            <a:ext cx="4919472" cy="1554480"/>
          </a:xfrm>
          <a:prstGeom prst="roundRect">
            <a:avLst>
              <a:gd name="adj" fmla="val 705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94944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6949440" y="22860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94944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8458200" y="22860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45820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9966960" y="22860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96696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694944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follow the language you choose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720840" y="3520440"/>
            <a:ext cx="4919472" cy="1234440"/>
          </a:xfrm>
          <a:prstGeom prst="roundRect">
            <a:avLst>
              <a:gd name="adj" fmla="val 8889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018020" y="3726180"/>
            <a:ext cx="502920" cy="50292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3851910"/>
            <a:ext cx="251460" cy="251460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772668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&amp; spoken replies</a:t>
            </a:r>
            <a:endParaRPr lang="en-US" sz="1350" dirty="0"/>
          </a:p>
        </p:txBody>
      </p:sp>
      <p:sp>
        <p:nvSpPr>
          <p:cNvPr id="51" name="Text 46"/>
          <p:cNvSpPr txBox="1"/>
          <p:nvPr/>
        </p:nvSpPr>
        <p:spPr>
          <a:xfrm>
            <a:off x="772668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so the chatbot works without internet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6720840" y="4937760"/>
            <a:ext cx="4919472" cy="1325880"/>
          </a:xfrm>
          <a:prstGeom prst="roundRect">
            <a:avLst>
              <a:gd name="adj" fmla="val 6897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/>
            </a:solidFill>
            <a:prstDash val="solid"/>
          </a:ln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08" y="5454396"/>
            <a:ext cx="292608" cy="292608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7379208" y="4937760"/>
            <a:ext cx="4096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chatbot is a local rule-based assistant, not a connected large language model.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689604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68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SIMULATION LAB &amp; FINANCIAL PLANNER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Guess. Simulate.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0F1730"/>
          </a:solidFill>
          <a:ln w="13970">
            <a:solidFill>
              <a:srgbClr val="A3B1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Investment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/ month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0F1730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SIP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/ month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28432" y="178308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SIP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/ month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6400800" cy="2971800"/>
          </a:xfrm>
          <a:prstGeom prst="roundRect">
            <a:avLst>
              <a:gd name="adj" fmla="val 369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 · assumed 12% p.a., not a forecast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0080" y="3611880"/>
          <a:ext cx="62179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9"/>
          <p:cNvSpPr/>
          <p:nvPr/>
        </p:nvSpPr>
        <p:spPr>
          <a:xfrm>
            <a:off x="7178040" y="3291840"/>
            <a:ext cx="4462272" cy="1965960"/>
          </a:xfrm>
          <a:prstGeom prst="roundRect">
            <a:avLst>
              <a:gd name="adj" fmla="val 5581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06640" y="3401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MODULES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80390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717536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Calculator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803904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820656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Forecast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27939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717536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Planning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427939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20656" y="4206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Simulator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475488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717536" y="46817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1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0" y="4754880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820656" y="46817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Hike Simulator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7178040" y="5440680"/>
            <a:ext cx="4462272" cy="822960"/>
          </a:xfrm>
          <a:prstGeom prst="roundRect">
            <a:avLst>
              <a:gd name="adj" fmla="val 13333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406640" y="5513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RECALCULATION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7406640" y="5760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·  Total Interest  ·  Emergency Fund Coverage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SAFETY &amp; CAMERA BANKING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Must Also Protect the User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1717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PROTECTION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scan of a pasted message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29260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083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926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requests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33832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46557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22960" y="38404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2277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840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offers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2976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37997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297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2960" y="47548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4837176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417320" y="4754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Remote-access apps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822960" y="5321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822960" y="5559552"/>
            <a:ext cx="4892040" cy="530352"/>
          </a:xfrm>
          <a:prstGeom prst="roundRect">
            <a:avLst>
              <a:gd name="adj" fmla="val 20690"/>
            </a:avLst>
          </a:prstGeom>
          <a:solidFill>
            <a:srgbClr val="3B1C8C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22960" y="55595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+ Explanation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6199632" y="17830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0F1730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428232" y="2011680"/>
            <a:ext cx="640080" cy="64008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8252" y="217170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51192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BANKING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7251192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photo checks in the browser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473952" y="29260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6832" y="3008376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68312" y="2926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brightness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6473952" y="33832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6832" y="3465576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68312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6473952" y="38404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6832" y="3922776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7068312" y="3840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coverage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6473952" y="4297680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6832" y="4379976"/>
            <a:ext cx="219456" cy="219456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068312" y="4297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OCR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6473952" y="486460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·  PAN / AADHAAR NUMBERS ARE MASKED</a:t>
            </a:r>
            <a:endParaRPr lang="en-US" sz="950" dirty="0"/>
          </a:p>
        </p:txBody>
      </p:sp>
      <p:sp>
        <p:nvSpPr>
          <p:cNvPr id="48" name="Shape 35"/>
          <p:cNvSpPr/>
          <p:nvPr/>
        </p:nvSpPr>
        <p:spPr>
          <a:xfrm>
            <a:off x="6473952" y="512064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41F4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6473952" y="512064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 XXXX 2346</a:t>
            </a:r>
            <a:endParaRPr lang="en-US" sz="2200" dirty="0"/>
          </a:p>
        </p:txBody>
      </p:sp>
      <p:sp>
        <p:nvSpPr>
          <p:cNvPr id="50" name="Text 37"/>
          <p:cNvSpPr txBox="1"/>
          <p:nvPr/>
        </p:nvSpPr>
        <p:spPr>
          <a:xfrm>
            <a:off x="6473952" y="5760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number and image are not stored by the feature.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922776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BANK MANAGER &amp; EXECUTIVE INTELLIGENCE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Individual Insights to Banking Intelligence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DIGITAL ADOPTION HEATMAP  ·  layout preview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" y="29260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83080" y="29260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29260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29260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9260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3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329184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83080" y="329184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88920" y="329184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94760" y="329184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329184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3657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783080" y="3657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88920" y="3657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94760" y="3657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00600" y="365760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5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041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4041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90956" y="446684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5840" y="4343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Low-adoption finder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396996" y="446684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11880" y="43434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finder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90956" y="487832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5840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396996" y="487832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611880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opportunities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90956" y="528980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166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monitoring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396996" y="528980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611880" y="5166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tracking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153912" y="178308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0F1730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82512" y="2011680"/>
            <a:ext cx="548640" cy="54864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48840"/>
            <a:ext cx="274320" cy="27432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7114032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6382512" y="2651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  ·  concept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382512" y="292608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027164" y="336956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347204" y="323240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511796" y="350672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164324" y="3662172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255764" y="346100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981444" y="3570732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438644" y="3689604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581644" y="3643884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901684" y="3506724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066276" y="3781044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718804" y="3936492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810244" y="3735324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535924" y="3845052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993124" y="3963924"/>
            <a:ext cx="118872" cy="1188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044684" y="314096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0364724" y="300380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0529316" y="327812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0181844" y="3433572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0273284" y="323240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998964" y="3342132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0456164" y="346100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382512" y="4297680"/>
            <a:ext cx="2468880" cy="512064"/>
          </a:xfrm>
          <a:prstGeom prst="roundRect">
            <a:avLst>
              <a:gd name="adj" fmla="val 17857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443984"/>
            <a:ext cx="219456" cy="219456"/>
          </a:xfrm>
          <a:prstGeom prst="rect">
            <a:avLst/>
          </a:prstGeom>
        </p:spPr>
      </p:pic>
      <p:sp>
        <p:nvSpPr>
          <p:cNvPr id="70" name="Text 65"/>
          <p:cNvSpPr txBox="1"/>
          <p:nvPr/>
        </p:nvSpPr>
        <p:spPr>
          <a:xfrm>
            <a:off x="6793992" y="42976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adoption prediction</a:t>
            </a:r>
            <a:endParaRPr lang="en-US" sz="1050" dirty="0"/>
          </a:p>
        </p:txBody>
      </p:sp>
      <p:sp>
        <p:nvSpPr>
          <p:cNvPr id="71" name="Shape 66"/>
          <p:cNvSpPr/>
          <p:nvPr/>
        </p:nvSpPr>
        <p:spPr>
          <a:xfrm>
            <a:off x="8942832" y="4297680"/>
            <a:ext cx="2468880" cy="512064"/>
          </a:xfrm>
          <a:prstGeom prst="roundRect">
            <a:avLst>
              <a:gd name="adj" fmla="val 17857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4443984"/>
            <a:ext cx="219456" cy="219456"/>
          </a:xfrm>
          <a:prstGeom prst="rect">
            <a:avLst/>
          </a:prstGeom>
        </p:spPr>
      </p:pic>
      <p:sp>
        <p:nvSpPr>
          <p:cNvPr id="73" name="Text 67"/>
          <p:cNvSpPr txBox="1"/>
          <p:nvPr/>
        </p:nvSpPr>
        <p:spPr>
          <a:xfrm>
            <a:off x="9354312" y="42976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adoption prediction</a:t>
            </a:r>
            <a:endParaRPr lang="en-US" sz="1050" dirty="0"/>
          </a:p>
        </p:txBody>
      </p:sp>
      <p:sp>
        <p:nvSpPr>
          <p:cNvPr id="74" name="Shape 68"/>
          <p:cNvSpPr/>
          <p:nvPr/>
        </p:nvSpPr>
        <p:spPr>
          <a:xfrm>
            <a:off x="6382512" y="4901184"/>
            <a:ext cx="2468880" cy="512064"/>
          </a:xfrm>
          <a:prstGeom prst="roundRect">
            <a:avLst>
              <a:gd name="adj" fmla="val 17857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047488"/>
            <a:ext cx="219456" cy="219456"/>
          </a:xfrm>
          <a:prstGeom prst="rect">
            <a:avLst/>
          </a:prstGeom>
        </p:spPr>
      </p:pic>
      <p:sp>
        <p:nvSpPr>
          <p:cNvPr id="76" name="Text 69"/>
          <p:cNvSpPr txBox="1"/>
          <p:nvPr/>
        </p:nvSpPr>
        <p:spPr>
          <a:xfrm>
            <a:off x="6793992" y="490118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 estimate</a:t>
            </a:r>
            <a:endParaRPr lang="en-US" sz="1050" dirty="0"/>
          </a:p>
        </p:txBody>
      </p:sp>
      <p:sp>
        <p:nvSpPr>
          <p:cNvPr id="77" name="Shape 70"/>
          <p:cNvSpPr/>
          <p:nvPr/>
        </p:nvSpPr>
        <p:spPr>
          <a:xfrm>
            <a:off x="8942832" y="4901184"/>
            <a:ext cx="2468880" cy="512064"/>
          </a:xfrm>
          <a:prstGeom prst="roundRect">
            <a:avLst>
              <a:gd name="adj" fmla="val 17857"/>
            </a:avLst>
          </a:prstGeom>
          <a:solidFill>
            <a:srgbClr val="141F42"/>
          </a:solidFill>
          <a:ln w="9525">
            <a:solidFill>
              <a:srgbClr val="2B3866"/>
            </a:solidFill>
            <a:prstDash val="solid"/>
          </a:ln>
        </p:spPr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5047488"/>
            <a:ext cx="219456" cy="219456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9354312" y="490118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</a:t>
            </a:r>
            <a:endParaRPr lang="en-US" sz="1050" dirty="0"/>
          </a:p>
        </p:txBody>
      </p:sp>
      <p:sp>
        <p:nvSpPr>
          <p:cNvPr id="80" name="Shape 72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/>
            </a:solidFill>
            <a:prstDash val="solid"/>
          </a:ln>
        </p:spPr>
      </p:sp>
      <p:pic>
        <p:nvPicPr>
          <p:cNvPr id="8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888736"/>
            <a:ext cx="292608" cy="292608"/>
          </a:xfrm>
          <a:prstGeom prst="rect">
            <a:avLst/>
          </a:prstGeom>
        </p:spPr>
      </p:pic>
      <p:sp>
        <p:nvSpPr>
          <p:cNvPr id="82" name="Text 73"/>
          <p:cNvSpPr txBox="1"/>
          <p:nvPr/>
        </p:nvSpPr>
        <p:spPr>
          <a:xfrm>
            <a:off x="1207008" y="576072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insights are based on accounts registered in the same browser in the current implementation.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6916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756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TECHNOLOGY + HONEST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Lightweight. Designed to Scale.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  ·  RUNS ENTIRELY IN THE BROWSER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VISUALS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0574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3500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20574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3500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+ Three.js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205740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3500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SERVICES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0" y="31089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596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34015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(best-effort)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40480" y="31089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764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4015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0" y="31089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8932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4015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storage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0" y="41605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596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4531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heuristics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840480" y="41605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7764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44531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852160" y="41605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44531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212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CHAT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0" y="52120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965960" y="5303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965960" y="55046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logistic score (heuristic)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840480" y="52120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77640" y="5303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3977640" y="55046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rule-based assistant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852160" y="52120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F1730"/>
          </a:solidFill>
          <a:ln w="9525">
            <a:solidFill>
              <a:srgbClr val="2B386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9320" y="5303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989320" y="55046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· DTI · Net worth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092440" y="1737360"/>
            <a:ext cx="3547872" cy="4526280"/>
          </a:xfrm>
          <a:prstGeom prst="roundRect">
            <a:avLst>
              <a:gd name="adj" fmla="val 3093"/>
            </a:avLst>
          </a:prstGeom>
          <a:solidFill>
            <a:srgbClr val="141F4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080260"/>
            <a:ext cx="228600" cy="228600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88239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8321040" y="294436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595360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/ database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321040" y="342900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59536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browser-local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8321040" y="39136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595360" y="37581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banking integration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8321040" y="4398264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595360" y="42428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/ credit outputs are simulations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321040" y="4882896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595360" y="47274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Life-event outputs are estimates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8321040" y="536752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595360" y="5212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models not trained on real outcomes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321040" y="585216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595360" y="56967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remain future scope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548640" y="61996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honesty is a design choice: every limit is stated up front.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4228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24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THE FUTURE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2.0 From Prototype to Real-World Financial Intelligence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" y="289407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761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" y="330555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172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" y="371703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584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" y="412851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security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72968" y="3081528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74136" y="169164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7016" y="18288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57016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62856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557016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561588" y="289407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31336" y="2761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LLM 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61588" y="330555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31336" y="3172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propensity models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561588" y="371703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31336" y="3584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outcome-based ML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61588" y="4128516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31336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personalization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98464" y="3081528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99632" y="169164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18288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82512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88352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88352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INTEGRATION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87084" y="2894076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56832" y="2761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transaction data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87084" y="3305556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56832" y="3172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banking APIs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87084" y="3717036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56832" y="3584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digital adoption signals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87084" y="4128516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56832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823960" y="3081528"/>
            <a:ext cx="1828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025128" y="169164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08008" y="18288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08008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213848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213848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20800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212580" y="2894076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482328" y="2761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banking deployment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212580" y="3305556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482328" y="3172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fraud intelligence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212580" y="3717036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82328" y="3584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financial journeys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212580" y="4128516"/>
            <a:ext cx="100584" cy="1005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482328" y="3995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Agentic AI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3B1C8C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68680" y="4754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</a:t>
            </a:r>
            <a:endParaRPr lang="en-US" sz="3400" dirty="0"/>
          </a:p>
        </p:txBody>
      </p:sp>
      <p:sp>
        <p:nvSpPr>
          <p:cNvPr id="68" name="Text 66"/>
          <p:cNvSpPr txBox="1"/>
          <p:nvPr/>
        </p:nvSpPr>
        <p:spPr>
          <a:xfrm>
            <a:off x="868680" y="5303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Engineered for Impact</a:t>
            </a:r>
            <a:endParaRPr lang="en-US" sz="1500" dirty="0"/>
          </a:p>
        </p:txBody>
      </p:sp>
      <p:sp>
        <p:nvSpPr>
          <p:cNvPr id="69" name="Text 67"/>
          <p:cNvSpPr txBox="1"/>
          <p:nvPr/>
        </p:nvSpPr>
        <p:spPr>
          <a:xfrm>
            <a:off x="4937760" y="4663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Analyze. Understand. Predict. Act.</a:t>
            </a:r>
            <a:endParaRPr lang="en-US" sz="2000" dirty="0"/>
          </a:p>
        </p:txBody>
      </p:sp>
      <p:sp>
        <p:nvSpPr>
          <p:cNvPr id="70" name="Text 68"/>
          <p:cNvSpPr txBox="1"/>
          <p:nvPr/>
        </p:nvSpPr>
        <p:spPr>
          <a:xfrm>
            <a:off x="896112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Mansi Kushwaha × Sheetal</a:t>
            </a:r>
            <a:endParaRPr lang="en-US" sz="15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provides educational and simulated financial insights. Recommendations are not guaranteed financial advice, loan approval, investment advice, or credit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B37C3-30F7-809A-8F06-47931DE9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17A2FE91-4AE5-C70E-2C38-28A02E4F218F}"/>
              </a:ext>
            </a:extLst>
          </p:cNvPr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61E831-4B4A-7FA1-EA4F-4686F330E59C}"/>
              </a:ext>
            </a:extLst>
          </p:cNvPr>
          <p:cNvSpPr/>
          <p:nvPr/>
        </p:nvSpPr>
        <p:spPr>
          <a:xfrm>
            <a:off x="548640" y="1691639"/>
            <a:ext cx="11091672" cy="2880361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  <p:txBody>
          <a:bodyPr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PROJECT DEMONSTRATION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4"/>
              </a:rPr>
              <a:t>https://colab.research.google.com/drive/1qdm39UOnB7qQUSCbRjnKjOZniCnCs9MQ#scrollTo=BgxUpgUyj1BP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5" action="ppaction://hlinkfile"/>
              </a:rPr>
              <a:t>file:///C:/Users/DELL/Downloads/manshora%20(2).html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536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DD75D-3C88-CE8C-94A0-4AF606AB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F1CDC57-ED2E-0B00-238A-2418BE3CC1DE}"/>
              </a:ext>
            </a:extLst>
          </p:cNvPr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MANSHORA  ·  Insight Engineered for Impact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352B3A-2EDD-39A0-4950-E243B6426FF7}"/>
              </a:ext>
            </a:extLst>
          </p:cNvPr>
          <p:cNvSpPr/>
          <p:nvPr/>
        </p:nvSpPr>
        <p:spPr>
          <a:xfrm>
            <a:off x="548640" y="1691640"/>
            <a:ext cx="11091672" cy="2385838"/>
          </a:xfrm>
          <a:prstGeom prst="roundRect">
            <a:avLst>
              <a:gd name="adj" fmla="val 4211"/>
            </a:avLst>
          </a:prstGeom>
          <a:solidFill>
            <a:srgbClr val="0F1730"/>
          </a:solidFill>
          <a:ln w="13970">
            <a:solidFill>
              <a:srgbClr val="22D3EE"/>
            </a:solidFill>
            <a:prstDash val="solid"/>
          </a:ln>
        </p:spPr>
        <p:txBody>
          <a:bodyPr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THANK YOU </a:t>
            </a:r>
          </a:p>
          <a:p>
            <a:pPr algn="ctr"/>
            <a:r>
              <a:rPr lang="en-US" sz="7200" dirty="0">
                <a:solidFill>
                  <a:schemeClr val="bg1"/>
                </a:solidFill>
              </a:rPr>
              <a:t>FOR LISTENING US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924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2398</Words>
  <Application>Microsoft Office PowerPoint</Application>
  <PresentationFormat>Widescreen</PresentationFormat>
  <Paragraphs>538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MANSHORA — Insight Engineered for Impact</dc:title>
  <dc:subject>PptxGenJS Presentation</dc:subject>
  <dc:creator>Mansi Kushwaha × Sheetal</dc:creator>
  <cp:lastModifiedBy>Mansi Kushwaha</cp:lastModifiedBy>
  <cp:revision>5</cp:revision>
  <dcterms:created xsi:type="dcterms:W3CDTF">2026-09-29T09:47:59Z</dcterms:created>
  <dcterms:modified xsi:type="dcterms:W3CDTF">2026-09-29T13:12:08Z</dcterms:modified>
</cp:coreProperties>
</file>